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5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773" autoAdjust="0"/>
  </p:normalViewPr>
  <p:slideViewPr>
    <p:cSldViewPr snapToGrid="0" snapToObjects="1">
      <p:cViewPr varScale="1">
        <p:scale>
          <a:sx n="77" d="100"/>
          <a:sy n="77" d="100"/>
        </p:scale>
        <p:origin x="72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8701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9866A-A9DF-31F0-31EF-94DDCD92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51F8BE-8DF7-4F86-19AD-52B75A292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E2AE0-010B-C66E-87B0-F9FFB8B8F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CD59C-4BF5-081E-82B6-7FB2E810F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2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banner_1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28232"/>
            <a:ext cx="12188952" cy="429768"/>
          </a:xfrm>
          <a:prstGeom prst="rect">
            <a:avLst/>
          </a:prstGeom>
          <a:solidFill>
            <a:srgbClr val="12141C">
              <a:alpha val="9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428232"/>
            <a:ext cx="1182319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Kholoud Khaled  •  Ereny Osama  •  Lamia Abdelhady  •  Kerolos El Mallakh      |      Supervised by Eng. Khlood Raga &amp; Eng. Youssef Ayman      |      National Telecommunication Institute (NTI)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17320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1545336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41732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011680" y="15636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011680" y="19293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credit risk matters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1417320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65392" y="1545336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269480" y="1508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863840" y="15636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863840" y="192938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tackled it, step by step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2679192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2807208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417320" y="277063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2011680" y="28254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011680" y="31912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worked with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0" y="2679192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65392" y="2807208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🧹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7269480" y="277063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863840" y="28254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Cleaning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863840" y="319125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&amp; preparing the data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3941064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3232" y="406908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1417320" y="403250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2011680" y="40873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2011680" y="44531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&amp; tuning models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00800" y="3941064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65392" y="4069080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34" name="Text 31"/>
          <p:cNvSpPr/>
          <p:nvPr/>
        </p:nvSpPr>
        <p:spPr>
          <a:xfrm>
            <a:off x="7269480" y="4032504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7863840" y="40873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Insights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863840" y="44531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performance &amp; key drivers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48640" y="5202936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3232" y="5330952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39" name="Text 36"/>
          <p:cNvSpPr/>
          <p:nvPr/>
        </p:nvSpPr>
        <p:spPr>
          <a:xfrm>
            <a:off x="1417320" y="52943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2011680" y="5349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Analysis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2011680" y="5715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&amp; customer segmentation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00800" y="5202936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65392" y="5330952"/>
            <a:ext cx="777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44" name="Text 41"/>
          <p:cNvSpPr/>
          <p:nvPr/>
        </p:nvSpPr>
        <p:spPr>
          <a:xfrm>
            <a:off x="7269480" y="5294376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7863840" y="5349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7863840" y="5715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what's next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0"/>
            <a:ext cx="4736592" cy="6858000"/>
          </a:xfrm>
          <a:prstGeom prst="rect">
            <a:avLst/>
          </a:prstGeom>
          <a:solidFill>
            <a:srgbClr val="23273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7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3444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loan a bank approves carries a risk: the borrower may default. Manual assessment is slow, inconsistent, and hard to scale — machine learning can flag high-risk applicants automatically, before the loan is approved.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423160"/>
            <a:ext cx="6675120" cy="1737360"/>
          </a:xfrm>
          <a:prstGeom prst="roundRect">
            <a:avLst>
              <a:gd name="adj" fmla="val 2632"/>
            </a:avLst>
          </a:prstGeom>
          <a:ln w="12700">
            <a:solidFill>
              <a:srgbClr val="34395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5328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32,581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48640" y="29077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886200" y="2560320"/>
            <a:ext cx="0" cy="594360"/>
          </a:xfrm>
          <a:prstGeom prst="line">
            <a:avLst/>
          </a:prstGeom>
          <a:noFill/>
          <a:ln w="12700">
            <a:solidFill>
              <a:srgbClr val="3439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86200" y="253288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21.8%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886200" y="29077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Default Rate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3291840"/>
            <a:ext cx="6492240" cy="0"/>
          </a:xfrm>
          <a:prstGeom prst="line">
            <a:avLst/>
          </a:prstGeom>
          <a:noFill/>
          <a:ln w="12700">
            <a:solidFill>
              <a:srgbClr val="3439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38328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48640" y="37764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&amp; Loan Features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434840"/>
            <a:ext cx="6675120" cy="868680"/>
          </a:xfrm>
          <a:prstGeom prst="roundRect">
            <a:avLst>
              <a:gd name="adj" fmla="val 7368"/>
            </a:avLst>
          </a:prstGeom>
          <a:solidFill>
            <a:srgbClr val="BE185D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434840"/>
            <a:ext cx="6126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 </a:t>
            </a:r>
            <a:r>
              <a:rPr lang="en-US" sz="1300" dirty="0">
                <a:solidFill>
                  <a:srgbClr val="FB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classifier that predicts whether a loan applicant will default, enabling faster, data-driven lending decisions.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2286000"/>
            <a:ext cx="3017520" cy="2331720"/>
          </a:xfrm>
          <a:prstGeom prst="roundRect">
            <a:avLst>
              <a:gd name="adj" fmla="val 4706"/>
            </a:avLst>
          </a:prstGeom>
          <a:solidFill>
            <a:srgbClr val="1B1E2C"/>
          </a:solidFill>
          <a:ln w="15875">
            <a:solidFill>
              <a:srgbClr val="34395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21040" y="25603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dirty="0">
                <a:solidFill>
                  <a:srgbClr val="000000"/>
                </a:solidFill>
              </a:rPr>
              <a:t>📄</a:t>
            </a:r>
            <a:endParaRPr lang="en-US" sz="7000" dirty="0"/>
          </a:p>
        </p:txBody>
      </p:sp>
      <p:sp>
        <p:nvSpPr>
          <p:cNvPr id="22" name="Shape 19"/>
          <p:cNvSpPr/>
          <p:nvPr/>
        </p:nvSpPr>
        <p:spPr>
          <a:xfrm>
            <a:off x="9784080" y="3566160"/>
            <a:ext cx="1051560" cy="914400"/>
          </a:xfrm>
          <a:prstGeom prst="roundRect">
            <a:avLst>
              <a:gd name="adj" fmla="val 10000"/>
            </a:avLst>
          </a:prstGeom>
          <a:solidFill>
            <a:srgbClr val="232739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29800" y="3639312"/>
            <a:ext cx="960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🧮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7955280" y="48463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7EB23A4-EA9D-323F-911A-AA7AC2A70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1" y="2183129"/>
            <a:ext cx="3072384" cy="2583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PLANNING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deployable risk-scoring model — in six deliberate stages.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3177540"/>
            <a:ext cx="10451592" cy="0"/>
          </a:xfrm>
          <a:prstGeom prst="line">
            <a:avLst/>
          </a:prstGeom>
          <a:noFill/>
          <a:ln w="25400">
            <a:solidFill>
              <a:srgbClr val="34395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060" y="2788920"/>
            <a:ext cx="777240" cy="777240"/>
          </a:xfrm>
          <a:prstGeom prst="ellipse">
            <a:avLst/>
          </a:prstGeom>
          <a:solidFill>
            <a:srgbClr val="232739"/>
          </a:solidFill>
          <a:ln/>
        </p:spPr>
      </p:sp>
      <p:sp>
        <p:nvSpPr>
          <p:cNvPr id="10" name="Text 7"/>
          <p:cNvSpPr/>
          <p:nvPr/>
        </p:nvSpPr>
        <p:spPr>
          <a:xfrm>
            <a:off x="480060" y="27706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80060" y="2788920"/>
            <a:ext cx="777240" cy="777240"/>
          </a:xfrm>
          <a:prstGeom prst="ellipse">
            <a:avLst/>
          </a:prstGeom>
          <a:ln w="22225">
            <a:solidFill>
              <a:srgbClr val="A78B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56132" y="2679192"/>
            <a:ext cx="310896" cy="310896"/>
          </a:xfrm>
          <a:prstGeom prst="ellipse">
            <a:avLst/>
          </a:prstGeom>
          <a:solidFill>
            <a:srgbClr val="A78BFA"/>
          </a:solidFill>
          <a:ln w="19050">
            <a:solidFill>
              <a:srgbClr val="12141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6132" y="2660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-91440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-91440" y="417880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32,581 real loan records with 12 applicant &amp; credit features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70378" y="2788920"/>
            <a:ext cx="777240" cy="777240"/>
          </a:xfrm>
          <a:prstGeom prst="ellipse">
            <a:avLst/>
          </a:prstGeom>
          <a:solidFill>
            <a:srgbClr val="232739"/>
          </a:solidFill>
          <a:ln/>
        </p:spPr>
      </p:sp>
      <p:sp>
        <p:nvSpPr>
          <p:cNvPr id="17" name="Text 14"/>
          <p:cNvSpPr/>
          <p:nvPr/>
        </p:nvSpPr>
        <p:spPr>
          <a:xfrm>
            <a:off x="2570378" y="27706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2570378" y="2788920"/>
            <a:ext cx="777240" cy="777240"/>
          </a:xfrm>
          <a:prstGeom prst="ellipse">
            <a:avLst/>
          </a:prstGeom>
          <a:ln w="22225">
            <a:solidFill>
              <a:srgbClr val="A78BF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46450" y="2679192"/>
            <a:ext cx="310896" cy="310896"/>
          </a:xfrm>
          <a:prstGeom prst="ellipse">
            <a:avLst/>
          </a:prstGeom>
          <a:solidFill>
            <a:srgbClr val="A78BFA"/>
          </a:solidFill>
          <a:ln w="19050">
            <a:solidFill>
              <a:srgbClr val="1214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146450" y="2660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998878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EDA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998878" y="417880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missing values, duplicates &amp; outliers; explored key patterns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60697" y="2788920"/>
            <a:ext cx="777240" cy="777240"/>
          </a:xfrm>
          <a:prstGeom prst="ellipse">
            <a:avLst/>
          </a:prstGeom>
          <a:solidFill>
            <a:srgbClr val="232739"/>
          </a:solidFill>
          <a:ln/>
        </p:spPr>
      </p:sp>
      <p:sp>
        <p:nvSpPr>
          <p:cNvPr id="24" name="Text 21"/>
          <p:cNvSpPr/>
          <p:nvPr/>
        </p:nvSpPr>
        <p:spPr>
          <a:xfrm>
            <a:off x="4660697" y="27706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4660697" y="2788920"/>
            <a:ext cx="777240" cy="777240"/>
          </a:xfrm>
          <a:prstGeom prst="ellipse">
            <a:avLst/>
          </a:prstGeom>
          <a:ln w="22225">
            <a:solidFill>
              <a:srgbClr val="A78BF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236769" y="2679192"/>
            <a:ext cx="310896" cy="310896"/>
          </a:xfrm>
          <a:prstGeom prst="ellipse">
            <a:avLst/>
          </a:prstGeom>
          <a:solidFill>
            <a:srgbClr val="A78BFA"/>
          </a:solidFill>
          <a:ln w="19050">
            <a:solidFill>
              <a:srgbClr val="12141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36769" y="2660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089197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089197" y="417880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scaling, stratified split — leakage-safe pipeline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751015" y="2788920"/>
            <a:ext cx="777240" cy="777240"/>
          </a:xfrm>
          <a:prstGeom prst="ellipse">
            <a:avLst/>
          </a:prstGeom>
          <a:solidFill>
            <a:srgbClr val="232739"/>
          </a:solidFill>
          <a:ln/>
        </p:spPr>
      </p:sp>
      <p:sp>
        <p:nvSpPr>
          <p:cNvPr id="31" name="Text 28"/>
          <p:cNvSpPr/>
          <p:nvPr/>
        </p:nvSpPr>
        <p:spPr>
          <a:xfrm>
            <a:off x="6751015" y="27706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400" dirty="0"/>
          </a:p>
        </p:txBody>
      </p:sp>
      <p:sp>
        <p:nvSpPr>
          <p:cNvPr id="32" name="Shape 29"/>
          <p:cNvSpPr/>
          <p:nvPr/>
        </p:nvSpPr>
        <p:spPr>
          <a:xfrm>
            <a:off x="6751015" y="2788920"/>
            <a:ext cx="777240" cy="777240"/>
          </a:xfrm>
          <a:prstGeom prst="ellipse">
            <a:avLst/>
          </a:prstGeom>
          <a:ln w="22225">
            <a:solidFill>
              <a:srgbClr val="A78BF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27087" y="2679192"/>
            <a:ext cx="310896" cy="310896"/>
          </a:xfrm>
          <a:prstGeom prst="ellipse">
            <a:avLst/>
          </a:prstGeom>
          <a:solidFill>
            <a:srgbClr val="A78BFA"/>
          </a:solidFill>
          <a:ln w="19050">
            <a:solidFill>
              <a:srgbClr val="12141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327087" y="2660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179515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6179515" y="417880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algorithms trained &amp; compared under identical conditions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8841334" y="2788920"/>
            <a:ext cx="777240" cy="777240"/>
          </a:xfrm>
          <a:prstGeom prst="ellipse">
            <a:avLst/>
          </a:prstGeom>
          <a:solidFill>
            <a:srgbClr val="232739"/>
          </a:solidFill>
          <a:ln/>
        </p:spPr>
      </p:sp>
      <p:sp>
        <p:nvSpPr>
          <p:cNvPr id="38" name="Text 35"/>
          <p:cNvSpPr/>
          <p:nvPr/>
        </p:nvSpPr>
        <p:spPr>
          <a:xfrm>
            <a:off x="8841334" y="27706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400" dirty="0"/>
          </a:p>
        </p:txBody>
      </p:sp>
      <p:sp>
        <p:nvSpPr>
          <p:cNvPr id="39" name="Shape 36"/>
          <p:cNvSpPr/>
          <p:nvPr/>
        </p:nvSpPr>
        <p:spPr>
          <a:xfrm>
            <a:off x="8841334" y="2788920"/>
            <a:ext cx="777240" cy="777240"/>
          </a:xfrm>
          <a:prstGeom prst="ellipse">
            <a:avLst/>
          </a:prstGeom>
          <a:ln w="22225">
            <a:solidFill>
              <a:srgbClr val="A78BF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417406" y="2679192"/>
            <a:ext cx="310896" cy="310896"/>
          </a:xfrm>
          <a:prstGeom prst="ellipse">
            <a:avLst/>
          </a:prstGeom>
          <a:solidFill>
            <a:srgbClr val="A78BFA"/>
          </a:solidFill>
          <a:ln w="19050">
            <a:solidFill>
              <a:srgbClr val="12141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417406" y="2660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8269834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8269834" y="417880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cross-validation to optimize for F1 / Recall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10931652" y="2788920"/>
            <a:ext cx="777240" cy="7772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5" name="Text 42"/>
          <p:cNvSpPr/>
          <p:nvPr/>
        </p:nvSpPr>
        <p:spPr>
          <a:xfrm>
            <a:off x="10931652" y="277063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400" dirty="0"/>
          </a:p>
        </p:txBody>
      </p:sp>
      <p:sp>
        <p:nvSpPr>
          <p:cNvPr id="46" name="Shape 43"/>
          <p:cNvSpPr/>
          <p:nvPr/>
        </p:nvSpPr>
        <p:spPr>
          <a:xfrm>
            <a:off x="10931652" y="2788920"/>
            <a:ext cx="777240" cy="777240"/>
          </a:xfrm>
          <a:prstGeom prst="ellipse">
            <a:avLst/>
          </a:prstGeom>
          <a:ln w="22225">
            <a:solidFill>
              <a:srgbClr val="34D39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1507724" y="2679192"/>
            <a:ext cx="310896" cy="310896"/>
          </a:xfrm>
          <a:prstGeom prst="ellipse">
            <a:avLst/>
          </a:prstGeom>
          <a:solidFill>
            <a:srgbClr val="A78BFA"/>
          </a:solidFill>
          <a:ln w="19050">
            <a:solidFill>
              <a:srgbClr val="12141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1507724" y="2660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0360152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Deploy-Ready</a:t>
            </a:r>
            <a:endParaRPr lang="en-US" sz="1250" dirty="0"/>
          </a:p>
        </p:txBody>
      </p:sp>
      <p:sp>
        <p:nvSpPr>
          <p:cNvPr id="50" name="Text 47"/>
          <p:cNvSpPr/>
          <p:nvPr/>
        </p:nvSpPr>
        <p:spPr>
          <a:xfrm>
            <a:off x="10360152" y="4178808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+ insights ready for real-world integration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48640" y="5806440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BE185D"/>
          </a:solidFill>
          <a:ln/>
        </p:spPr>
      </p:sp>
      <p:sp>
        <p:nvSpPr>
          <p:cNvPr id="52" name="Text 49"/>
          <p:cNvSpPr/>
          <p:nvPr/>
        </p:nvSpPr>
        <p:spPr>
          <a:xfrm>
            <a:off x="822960" y="580644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 matters:  </a:t>
            </a:r>
            <a:r>
              <a:rPr lang="en-US" sz="1300" dirty="0">
                <a:solidFill>
                  <a:srgbClr val="FB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validates the one before it — clean data before modeling, tuned models before comparison — so the final choice is defensible, not accidental.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344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371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49808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Info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808" y="221284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income, home ownership, employment length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2344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44568" y="1371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Info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544568" y="221284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intent, interest rate, credit grade (A–G)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138160" y="12344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39328" y="1371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339328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339328" y="221284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default on file, credit history length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DISTRIBUTION — loan_status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3703320"/>
            <a:ext cx="5863499" cy="5029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Shape 18"/>
          <p:cNvSpPr/>
          <p:nvPr/>
        </p:nvSpPr>
        <p:spPr>
          <a:xfrm>
            <a:off x="6412139" y="3703320"/>
            <a:ext cx="1634581" cy="5029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4315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Default — 78.2%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12139" y="4315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— 21.8%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503920" y="324612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32520" y="3401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Key Challenge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732520" y="379476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imbalanced (~4:1). A naive model could reach 78% accuracy by predicting “no default” every time — so accuracy alone is misleading.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the Data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8016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pic>
        <p:nvPicPr>
          <p:cNvPr id="8" name="Image 1" descr="assets/correlation_heatmap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444752"/>
            <a:ext cx="5120640" cy="3822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263640" y="1965960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7"/>
          <p:cNvSpPr/>
          <p:nvPr/>
        </p:nvSpPr>
        <p:spPr>
          <a:xfrm>
            <a:off x="626364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720840" y="192024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loan_percent_income (0.38) and loan_int_rate (0.32) are the strongest numeric predictors of default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63640" y="3017520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0"/>
          <p:cNvSpPr/>
          <p:nvPr/>
        </p:nvSpPr>
        <p:spPr>
          <a:xfrm>
            <a:off x="6263640" y="2999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720840" y="297180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person_age and cb_person_cred_hist_length are highly correlated (0.86) — flagged as multicollinearity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63640" y="4069080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7" name="Text 13"/>
          <p:cNvSpPr/>
          <p:nvPr/>
        </p:nvSpPr>
        <p:spPr>
          <a:xfrm>
            <a:off x="6263640" y="4050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720840" y="4023360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(Random Forest, XGBoost) are largely unaffected by this, so both features were kept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8016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❓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9808" y="18470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9808" y="212140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895 + 3,116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49808" y="2724912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length &amp; interest rate — filled with median (robust to outliers)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128016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44568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🗑️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544568" y="18470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44568" y="212140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 rows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544568" y="2724912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duplicated records removed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38160" y="1280160"/>
            <a:ext cx="3520440" cy="2468880"/>
          </a:xfrm>
          <a:prstGeom prst="roundRect">
            <a:avLst>
              <a:gd name="adj" fmla="val 2963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39328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339328" y="184708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Outliers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339328" y="212140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rows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339328" y="2724912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ages (&gt;100) and employment length exceeding age, removed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9776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BE185D"/>
          </a:solidFill>
          <a:ln/>
        </p:spPr>
      </p:sp>
      <p:sp>
        <p:nvSpPr>
          <p:cNvPr id="23" name="Text 20"/>
          <p:cNvSpPr/>
          <p:nvPr/>
        </p:nvSpPr>
        <p:spPr>
          <a:xfrm>
            <a:off x="822960" y="39776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32,581 → 32,409 rows:  </a:t>
            </a:r>
            <a:r>
              <a:rPr lang="en-US" sz="1300" dirty="0">
                <a:solidFill>
                  <a:srgbClr val="FB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duplicates and invalid records, the dataset shrank by just 0.5% — preserving nearly all of the original signal.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MODEL-READY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2880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90472" y="2103120"/>
            <a:ext cx="585216" cy="585216"/>
          </a:xfrm>
          <a:prstGeom prst="ellipse">
            <a:avLst/>
          </a:prstGeom>
          <a:solidFill>
            <a:srgbClr val="232739"/>
          </a:solidFill>
          <a:ln/>
        </p:spPr>
      </p:sp>
      <p:sp>
        <p:nvSpPr>
          <p:cNvPr id="9" name="Text 6"/>
          <p:cNvSpPr/>
          <p:nvPr/>
        </p:nvSpPr>
        <p:spPr>
          <a:xfrm>
            <a:off x="1490472" y="2084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490472" y="2103120"/>
            <a:ext cx="585216" cy="585216"/>
          </a:xfrm>
          <a:prstGeom prst="ellipse">
            <a:avLst/>
          </a:prstGeom>
          <a:ln w="19050">
            <a:solidFill>
              <a:srgbClr val="A78BF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20240" y="1956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85800" y="33101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skew in income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017520" y="2286000"/>
            <a:ext cx="405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3422904" y="182880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64736" y="2103120"/>
            <a:ext cx="585216" cy="585216"/>
          </a:xfrm>
          <a:prstGeom prst="ellipse">
            <a:avLst/>
          </a:prstGeom>
          <a:solidFill>
            <a:srgbClr val="232739"/>
          </a:solidFill>
          <a:ln/>
        </p:spPr>
      </p:sp>
      <p:sp>
        <p:nvSpPr>
          <p:cNvPr id="17" name="Text 14"/>
          <p:cNvSpPr/>
          <p:nvPr/>
        </p:nvSpPr>
        <p:spPr>
          <a:xfrm>
            <a:off x="4364736" y="2084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4364736" y="2103120"/>
            <a:ext cx="585216" cy="585216"/>
          </a:xfrm>
          <a:prstGeom prst="ellipse">
            <a:avLst/>
          </a:prstGeom>
          <a:ln w="19050">
            <a:solidFill>
              <a:srgbClr val="A78B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94504" y="1956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560064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560064" y="33101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One-Hot encoding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891784" y="2286000"/>
            <a:ext cx="405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297168" y="182880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39000" y="2103120"/>
            <a:ext cx="585216" cy="585216"/>
          </a:xfrm>
          <a:prstGeom prst="ellipse">
            <a:avLst/>
          </a:prstGeom>
          <a:solidFill>
            <a:srgbClr val="232739"/>
          </a:solidFill>
          <a:ln/>
        </p:spPr>
      </p:sp>
      <p:sp>
        <p:nvSpPr>
          <p:cNvPr id="25" name="Text 22"/>
          <p:cNvSpPr/>
          <p:nvPr/>
        </p:nvSpPr>
        <p:spPr>
          <a:xfrm>
            <a:off x="7239000" y="2084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✂️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7239000" y="2103120"/>
            <a:ext cx="585216" cy="585216"/>
          </a:xfrm>
          <a:prstGeom prst="ellipse">
            <a:avLst/>
          </a:prstGeom>
          <a:ln w="19050">
            <a:solidFill>
              <a:srgbClr val="A78BF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68768" y="1956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34328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434328" y="33101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20, stratified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766048" y="2286000"/>
            <a:ext cx="405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9171432" y="1828800"/>
            <a:ext cx="2468880" cy="2286000"/>
          </a:xfrm>
          <a:prstGeom prst="roundRect">
            <a:avLst>
              <a:gd name="adj" fmla="val 3200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113264" y="2103120"/>
            <a:ext cx="585216" cy="5852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3" name="Text 30"/>
          <p:cNvSpPr/>
          <p:nvPr/>
        </p:nvSpPr>
        <p:spPr>
          <a:xfrm>
            <a:off x="10113264" y="20848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10113264" y="2103120"/>
            <a:ext cx="585216" cy="585216"/>
          </a:xfrm>
          <a:prstGeom prst="ellipse">
            <a:avLst/>
          </a:prstGeom>
          <a:ln w="19050">
            <a:solidFill>
              <a:srgbClr val="34D39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543032" y="1956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308592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308592" y="331012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(fit on train only)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4864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and scaling were fit only on the training set, then applied to the test set — avoiding data leakage.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DECISION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Class Imbalance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0972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~78% of applicants repaying and only ~22% defaulting, an untreated model naturally learns to favor the majority class. We corrected for this at the model level: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1305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17320" y="21305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417320" y="249631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Random Forest to up-weight minority-class errors during training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80760" y="19659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21305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949440" y="21305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949440" y="249631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XGBoost's equivalent — computed from the train-set class ratio (~3.6)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5661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7307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417320" y="3730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417320" y="409651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 preserved the 78/22 ratio in both train and test sets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80760" y="35661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7307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949440" y="37307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F1-optimized Tuning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949440" y="409651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scored on F1, not accuracy — avoiding a majority-class bias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Three Models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4924" y="1060704"/>
            <a:ext cx="6949440" cy="4206240"/>
          </a:xfrm>
          <a:prstGeom prst="roundRect">
            <a:avLst>
              <a:gd name="adj" fmla="val 1739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pic>
        <p:nvPicPr>
          <p:cNvPr id="8" name="Image 1" descr="assets/model_comparison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1248156"/>
            <a:ext cx="6492240" cy="33558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02880" y="137160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936992" y="1554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503920" y="1545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503920" y="19476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baseline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772400" y="278892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936992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🌳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503920" y="29169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8503920" y="33192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772400" y="416052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BE185D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36992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8503920" y="42885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8503920" y="46908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B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— our final pick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C7EE87D-4435-C46D-73D0-7E22BCFBE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935065"/>
              </p:ext>
            </p:extLst>
          </p:nvPr>
        </p:nvGraphicFramePr>
        <p:xfrm>
          <a:off x="503967" y="4604004"/>
          <a:ext cx="6980396" cy="2103120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1990977">
                  <a:extLst>
                    <a:ext uri="{9D8B030D-6E8A-4147-A177-3AD203B41FA5}">
                      <a16:colId xmlns:a16="http://schemas.microsoft.com/office/drawing/2014/main" val="3536669156"/>
                    </a:ext>
                  </a:extLst>
                </a:gridCol>
                <a:gridCol w="1835678">
                  <a:extLst>
                    <a:ext uri="{9D8B030D-6E8A-4147-A177-3AD203B41FA5}">
                      <a16:colId xmlns:a16="http://schemas.microsoft.com/office/drawing/2014/main" val="2494446508"/>
                    </a:ext>
                  </a:extLst>
                </a:gridCol>
                <a:gridCol w="2040448">
                  <a:extLst>
                    <a:ext uri="{9D8B030D-6E8A-4147-A177-3AD203B41FA5}">
                      <a16:colId xmlns:a16="http://schemas.microsoft.com/office/drawing/2014/main" val="304716301"/>
                    </a:ext>
                  </a:extLst>
                </a:gridCol>
                <a:gridCol w="1113293">
                  <a:extLst>
                    <a:ext uri="{9D8B030D-6E8A-4147-A177-3AD203B41FA5}">
                      <a16:colId xmlns:a16="http://schemas.microsoft.com/office/drawing/2014/main" val="21455238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1" dirty="0" err="1">
                          <a:solidFill>
                            <a:schemeClr val="bg1"/>
                          </a:solidFill>
                        </a:rPr>
                        <a:t>XGBoost</a:t>
                      </a:r>
                      <a:endParaRPr lang="ar-EG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Random Forest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pPr rtl="1"/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Logistic Regression</a:t>
                      </a:r>
                      <a:endParaRPr lang="ar-EG" dirty="0">
                        <a:solidFill>
                          <a:schemeClr val="bg1"/>
                        </a:solidFill>
                      </a:endParaRPr>
                    </a:p>
                    <a:p>
                      <a:pPr rtl="1"/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Scale</a:t>
                      </a:r>
                      <a:endParaRPr lang="ar-EG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600397"/>
                  </a:ext>
                </a:extLst>
              </a:tr>
              <a:tr h="326778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91.8%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91.3%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85.1%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Accuracy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440236"/>
                  </a:ext>
                </a:extLst>
              </a:tr>
              <a:tr h="326778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81.1%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82.7%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72.3%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Precision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305389"/>
                  </a:ext>
                </a:extLst>
              </a:tr>
              <a:tr h="326778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81.7%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76.0%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51.6%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Recall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945017"/>
                  </a:ext>
                </a:extLst>
              </a:tr>
              <a:tr h="326778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81.4%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79.2%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60.2%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F1 Score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92194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0265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BE52E0"/>
                </a:solidFill>
              </a:rPr>
              <a:t>Classification</a:t>
            </a:r>
            <a:r>
              <a:rPr lang="ar-EG" sz="2800" b="1" dirty="0">
                <a:solidFill>
                  <a:srgbClr val="BE52E0"/>
                </a:solidFill>
              </a:rPr>
              <a:t> </a:t>
            </a:r>
            <a:r>
              <a:rPr lang="en-US" sz="2800" b="1" dirty="0">
                <a:solidFill>
                  <a:srgbClr val="BE52E0"/>
                </a:solidFill>
              </a:rPr>
              <a:t>Report Table</a:t>
            </a:r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051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chemeClr val="bg1">
                    <a:lumMod val="75000"/>
                  </a:schemeClr>
                </a:solidFill>
              </a:rPr>
              <a:t>Detailed performance evaluation across classes (Non-Default vs. Default)</a:t>
            </a:r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069080" y="1783080"/>
            <a:ext cx="18585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19038" y="1783080"/>
            <a:ext cx="18585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968996" y="1783080"/>
            <a:ext cx="18585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918954" y="1783080"/>
            <a:ext cx="18585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1520" y="2194560"/>
            <a:ext cx="10725912" cy="0"/>
          </a:xfrm>
          <a:prstGeom prst="line">
            <a:avLst/>
          </a:prstGeom>
          <a:noFill/>
          <a:ln w="12700">
            <a:solidFill>
              <a:srgbClr val="34395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304288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BE185D">
              <a:alpha val="22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(chosen)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069080" y="23774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19038" y="23774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968996" y="23774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79.6%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918954" y="23774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83.4%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7724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069080" y="30632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019038" y="30632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968996" y="30632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918954" y="30632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83.0%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4251960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BE185D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425196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XGBoost:  </a:t>
            </a:r>
            <a:r>
              <a:rPr lang="en-US" sz="1300" dirty="0">
                <a:solidFill>
                  <a:srgbClr val="FB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credit risk, missing a defaulter (low recall) costs more than a false alarm. XGBoost delivers the highest Recall (79.6%) and the best overall F1-score among tuned models — catching more real defaulters while keeping precision strong.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1497633" y="648251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4028D7A-E7EC-6817-6CFD-2BF9DD9F2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9" y="1565342"/>
            <a:ext cx="12119754" cy="529265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852AF5C-7E85-0D4B-4092-4D6C14BAE7CD}"/>
              </a:ext>
            </a:extLst>
          </p:cNvPr>
          <p:cNvSpPr txBox="1"/>
          <p:nvPr/>
        </p:nvSpPr>
        <p:spPr>
          <a:xfrm>
            <a:off x="11726233" y="6482518"/>
            <a:ext cx="428120" cy="230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endParaRPr lang="ar-EG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4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FD57F-1952-710A-C13C-6C153886B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51EADD9-CE3F-6079-7A98-01BD4CD5ABA2}"/>
              </a:ext>
            </a:extLst>
          </p:cNvPr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1372B5-8062-FF2D-6836-1551D09C38B7}"/>
              </a:ext>
            </a:extLst>
          </p:cNvPr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F47F774-9F01-A9B6-264D-80155F0FAAA9}"/>
              </a:ext>
            </a:extLst>
          </p:cNvPr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&amp; Final Choice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0D7B1EE-AD67-129C-51A5-5FDF2513D778}"/>
              </a:ext>
            </a:extLst>
          </p:cNvPr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>
            <a:extLst>
              <a:ext uri="{FF2B5EF4-FFF2-40B4-BE49-F238E27FC236}">
                <a16:creationId xmlns:a16="http://schemas.microsoft.com/office/drawing/2014/main" id="{127E3DB8-B7CF-72DD-641C-AF7D63104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A4FE85DF-643C-5331-6FA2-E130D34137E6}"/>
              </a:ext>
            </a:extLst>
          </p:cNvPr>
          <p:cNvSpPr/>
          <p:nvPr/>
        </p:nvSpPr>
        <p:spPr>
          <a:xfrm>
            <a:off x="713232" y="1051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XGBoost were tuned with 3-fold cross-validated GridSearchCV, optimizing for F1-score.</a:t>
            </a:r>
            <a:endParaRPr lang="en-US" sz="12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517CE35-6641-3C0A-76FA-ABF7C6E9F8C6}"/>
              </a:ext>
            </a:extLst>
          </p:cNvPr>
          <p:cNvSpPr/>
          <p:nvPr/>
        </p:nvSpPr>
        <p:spPr>
          <a:xfrm>
            <a:off x="548640" y="1600200"/>
            <a:ext cx="11091672" cy="2286000"/>
          </a:xfrm>
          <a:prstGeom prst="roundRect">
            <a:avLst>
              <a:gd name="adj" fmla="val 3200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1B3AD4B-8791-C7B9-91D6-082D64DCCCD7}"/>
              </a:ext>
            </a:extLst>
          </p:cNvPr>
          <p:cNvSpPr/>
          <p:nvPr/>
        </p:nvSpPr>
        <p:spPr>
          <a:xfrm>
            <a:off x="77724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2FEB301B-115D-2280-DEFB-176BFA6B6B34}"/>
              </a:ext>
            </a:extLst>
          </p:cNvPr>
          <p:cNvSpPr/>
          <p:nvPr/>
        </p:nvSpPr>
        <p:spPr>
          <a:xfrm>
            <a:off x="4069080" y="1783080"/>
            <a:ext cx="18585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540CB17-664E-04C8-C4B1-1E71BDD1F6AA}"/>
              </a:ext>
            </a:extLst>
          </p:cNvPr>
          <p:cNvSpPr/>
          <p:nvPr/>
        </p:nvSpPr>
        <p:spPr>
          <a:xfrm>
            <a:off x="6019038" y="1783080"/>
            <a:ext cx="18585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4D9593C-A30D-56AD-000B-73AE43522F0E}"/>
              </a:ext>
            </a:extLst>
          </p:cNvPr>
          <p:cNvSpPr/>
          <p:nvPr/>
        </p:nvSpPr>
        <p:spPr>
          <a:xfrm>
            <a:off x="7968996" y="1783080"/>
            <a:ext cx="18585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535C4FD-0F4E-D01B-992B-89402A91FF98}"/>
              </a:ext>
            </a:extLst>
          </p:cNvPr>
          <p:cNvSpPr/>
          <p:nvPr/>
        </p:nvSpPr>
        <p:spPr>
          <a:xfrm>
            <a:off x="9918954" y="1783080"/>
            <a:ext cx="18585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9839D92F-CCF6-0CD7-A22C-AC36451B959F}"/>
              </a:ext>
            </a:extLst>
          </p:cNvPr>
          <p:cNvSpPr/>
          <p:nvPr/>
        </p:nvSpPr>
        <p:spPr>
          <a:xfrm>
            <a:off x="731520" y="2194560"/>
            <a:ext cx="10725912" cy="0"/>
          </a:xfrm>
          <a:prstGeom prst="line">
            <a:avLst/>
          </a:prstGeom>
          <a:noFill/>
          <a:ln w="12700">
            <a:solidFill>
              <a:srgbClr val="343954"/>
            </a:solidFill>
            <a:prstDash val="solid"/>
          </a:ln>
        </p:spPr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26F7BAD-5F96-1B6C-4C3A-60C93D2C7091}"/>
              </a:ext>
            </a:extLst>
          </p:cNvPr>
          <p:cNvSpPr/>
          <p:nvPr/>
        </p:nvSpPr>
        <p:spPr>
          <a:xfrm>
            <a:off x="658368" y="2304288"/>
            <a:ext cx="10872216" cy="566928"/>
          </a:xfrm>
          <a:prstGeom prst="roundRect">
            <a:avLst>
              <a:gd name="adj" fmla="val 8065"/>
            </a:avLst>
          </a:prstGeom>
          <a:solidFill>
            <a:srgbClr val="BE185D">
              <a:alpha val="22000"/>
            </a:srgbClr>
          </a:solidFill>
          <a:ln/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0D273B7-2756-A52E-09DB-73B103428EB9}"/>
              </a:ext>
            </a:extLst>
          </p:cNvPr>
          <p:cNvSpPr/>
          <p:nvPr/>
        </p:nvSpPr>
        <p:spPr>
          <a:xfrm>
            <a:off x="777240" y="23774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(chosen)</a:t>
            </a:r>
            <a:endParaRPr lang="en-US" sz="13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EC87FBC-2714-4B2B-6D81-7BF52417DC33}"/>
              </a:ext>
            </a:extLst>
          </p:cNvPr>
          <p:cNvSpPr/>
          <p:nvPr/>
        </p:nvSpPr>
        <p:spPr>
          <a:xfrm>
            <a:off x="4069080" y="23774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93.0%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36739DC-A4A9-BB39-1908-0C5A311B42B6}"/>
              </a:ext>
            </a:extLst>
          </p:cNvPr>
          <p:cNvSpPr/>
          <p:nvPr/>
        </p:nvSpPr>
        <p:spPr>
          <a:xfrm>
            <a:off x="6019038" y="23774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</a:t>
            </a:r>
            <a:endParaRPr lang="en-US" sz="14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BB5AA0E-22FC-0513-D687-CB5C981070D0}"/>
              </a:ext>
            </a:extLst>
          </p:cNvPr>
          <p:cNvSpPr/>
          <p:nvPr/>
        </p:nvSpPr>
        <p:spPr>
          <a:xfrm>
            <a:off x="7968996" y="23774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79.6%</a:t>
            </a:r>
            <a:endParaRPr lang="en-US" sz="14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D252D9E-00E0-E643-C2EE-8B7859C30441}"/>
              </a:ext>
            </a:extLst>
          </p:cNvPr>
          <p:cNvSpPr/>
          <p:nvPr/>
        </p:nvSpPr>
        <p:spPr>
          <a:xfrm>
            <a:off x="9918954" y="23774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83.4%</a:t>
            </a:r>
            <a:endParaRPr lang="en-US" sz="1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A26E159-2EFD-D92B-D1E7-1AC3AC5F1434}"/>
              </a:ext>
            </a:extLst>
          </p:cNvPr>
          <p:cNvSpPr/>
          <p:nvPr/>
        </p:nvSpPr>
        <p:spPr>
          <a:xfrm>
            <a:off x="777240" y="3063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250555A-6A0E-B026-D851-8CBA4B4C80A1}"/>
              </a:ext>
            </a:extLst>
          </p:cNvPr>
          <p:cNvSpPr/>
          <p:nvPr/>
        </p:nvSpPr>
        <p:spPr>
          <a:xfrm>
            <a:off x="4069080" y="30632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14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3AD5F91-0910-1F34-D5F4-7C36F6A53948}"/>
              </a:ext>
            </a:extLst>
          </p:cNvPr>
          <p:cNvSpPr/>
          <p:nvPr/>
        </p:nvSpPr>
        <p:spPr>
          <a:xfrm>
            <a:off x="6019038" y="30632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14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1EF2616-0421-5990-4EFA-6C8FE97F804E}"/>
              </a:ext>
            </a:extLst>
          </p:cNvPr>
          <p:cNvSpPr/>
          <p:nvPr/>
        </p:nvSpPr>
        <p:spPr>
          <a:xfrm>
            <a:off x="7968996" y="30632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73.1%</a:t>
            </a:r>
            <a:endParaRPr lang="en-US" sz="14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3B27064-205B-C897-F486-7666DB0F9229}"/>
              </a:ext>
            </a:extLst>
          </p:cNvPr>
          <p:cNvSpPr/>
          <p:nvPr/>
        </p:nvSpPr>
        <p:spPr>
          <a:xfrm>
            <a:off x="9918954" y="3063240"/>
            <a:ext cx="18585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83.0%</a:t>
            </a:r>
            <a:endParaRPr lang="en-US" sz="14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3F5343EB-F370-0FA6-3095-75986D36AFEE}"/>
              </a:ext>
            </a:extLst>
          </p:cNvPr>
          <p:cNvSpPr/>
          <p:nvPr/>
        </p:nvSpPr>
        <p:spPr>
          <a:xfrm>
            <a:off x="548640" y="4251960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BE185D"/>
          </a:solidFill>
          <a:ln/>
        </p:spPr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94E8E819-B5CF-4569-A202-7D6B168CD02C}"/>
              </a:ext>
            </a:extLst>
          </p:cNvPr>
          <p:cNvSpPr/>
          <p:nvPr/>
        </p:nvSpPr>
        <p:spPr>
          <a:xfrm>
            <a:off x="822960" y="425196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XGBoost:  </a:t>
            </a:r>
            <a:r>
              <a:rPr lang="en-US" sz="1300" dirty="0">
                <a:solidFill>
                  <a:srgbClr val="FB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credit risk, missing a defaulter (low recall) costs more than a false alarm. XGBoost delivers the highest Recall (79.6%) and the best overall F1-score among tuned models — catching more real defaulters while keeping precision strong.</a:t>
            </a:r>
            <a:endParaRPr lang="en-US" sz="13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A774C1D-3DE3-D561-D449-543BC2B4CE7E}"/>
              </a:ext>
            </a:extLst>
          </p:cNvPr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</a:p>
          <a:p>
            <a:pPr marL="0" indent="0" algn="r">
              <a:buNone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1729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8016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pic>
        <p:nvPicPr>
          <p:cNvPr id="8" name="Image 1" descr="assets/confusion_matrix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508760"/>
            <a:ext cx="4663440" cy="32735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892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Confusion Matrix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989320" y="12801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8932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93.0%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5989320" y="21214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869680" y="12801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86968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87.5%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8869680" y="21214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89320" y="278892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89320" y="2880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79.6%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5989320" y="3630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869680" y="278892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869680" y="2880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83.4%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8869680" y="363016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989320" y="4434840"/>
            <a:ext cx="5669280" cy="1188720"/>
          </a:xfrm>
          <a:prstGeom prst="roundRect">
            <a:avLst>
              <a:gd name="adj" fmla="val 5385"/>
            </a:avLst>
          </a:prstGeom>
          <a:solidFill>
            <a:srgbClr val="BE185D"/>
          </a:solidFill>
          <a:ln/>
        </p:spPr>
      </p:sp>
      <p:sp>
        <p:nvSpPr>
          <p:cNvPr id="23" name="Text 19"/>
          <p:cNvSpPr/>
          <p:nvPr/>
        </p:nvSpPr>
        <p:spPr>
          <a:xfrm>
            <a:off x="6263640" y="44348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lang="en-US" sz="1300" dirty="0">
                <a:solidFill>
                  <a:srgbClr val="FB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identified 1,129 of 1,418 real defaulters — catching 4 out of 5 high-risk applicants before the loan is approved.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Default Risk?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80160"/>
            <a:ext cx="5669280" cy="4434840"/>
          </a:xfrm>
          <a:prstGeom prst="roundRect">
            <a:avLst>
              <a:gd name="adj" fmla="val 1649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pic>
        <p:nvPicPr>
          <p:cNvPr id="8" name="Image 1" descr="assets/feature_importance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1463040"/>
            <a:ext cx="5257800" cy="38221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92240" y="1417320"/>
            <a:ext cx="5120640" cy="960120"/>
          </a:xfrm>
          <a:prstGeom prst="roundRect">
            <a:avLst>
              <a:gd name="adj" fmla="val 6667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75120" y="141732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25.3%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909560" y="15270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Grade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909560" y="189280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predictor — the bank's own credit rating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92240" y="2514600"/>
            <a:ext cx="5120640" cy="960120"/>
          </a:xfrm>
          <a:prstGeom prst="roundRect">
            <a:avLst>
              <a:gd name="adj" fmla="val 6667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75120" y="251460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13.3%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909560" y="262432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 — Own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909560" y="29900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a home is linked to lower default risk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92240" y="3611880"/>
            <a:ext cx="5120640" cy="960120"/>
          </a:xfrm>
          <a:prstGeom prst="roundRect">
            <a:avLst>
              <a:gd name="adj" fmla="val 6667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75120" y="361188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10.5%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7909560" y="37216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 — Rent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909560" y="40873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Renting is linked to higher default risk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492240" y="4709160"/>
            <a:ext cx="5120640" cy="960120"/>
          </a:xfrm>
          <a:prstGeom prst="roundRect">
            <a:avLst>
              <a:gd name="adj" fmla="val 6667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75120" y="470916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7909560" y="4818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Intent (Venture)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909560" y="51846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Business/venture loans carry more risk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FURTHER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2801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pic>
        <p:nvPicPr>
          <p:cNvPr id="8" name="Image 1" descr="assets/pca_scatter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417320"/>
            <a:ext cx="5029200" cy="3429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489204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2D Visualization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080760" y="1280160"/>
            <a:ext cx="5577840" cy="3977640"/>
          </a:xfrm>
          <a:prstGeom prst="roundRect">
            <a:avLst>
              <a:gd name="adj" fmla="val 1839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pic>
        <p:nvPicPr>
          <p:cNvPr id="11" name="Image 2" descr="assets/cluster_scatter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417320"/>
            <a:ext cx="5303520" cy="3749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80760" y="4892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— Customer Segments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8750"/>
            </a:avLst>
          </a:prstGeom>
          <a:solidFill>
            <a:srgbClr val="BE185D"/>
          </a:solidFill>
          <a:ln/>
        </p:spPr>
      </p:sp>
      <p:sp>
        <p:nvSpPr>
          <p:cNvPr id="14" name="Text 9"/>
          <p:cNvSpPr/>
          <p:nvPr/>
        </p:nvSpPr>
        <p:spPr>
          <a:xfrm>
            <a:off x="822960" y="544068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confirmation:  </a:t>
            </a:r>
            <a:r>
              <a:rPr lang="en-US" sz="1300" dirty="0">
                <a:solidFill>
                  <a:srgbClr val="FB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clustering, run without seeing loan_status, found the riskiest customer segment defaults over 5× more often than the safest — matching the supervised model's findings.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008" cy="3840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94944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1045952" y="320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1B1E2C"/>
          </a:solidFill>
          <a:ln w="9525">
            <a:solidFill>
              <a:srgbClr val="343954"/>
            </a:solidFill>
            <a:prstDash val="solid"/>
          </a:ln>
        </p:spPr>
      </p:sp>
      <p:pic>
        <p:nvPicPr>
          <p:cNvPr id="6" name="Image 0" descr="assets/nti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402336"/>
            <a:ext cx="676656" cy="3383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3716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7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SafeLend uses a tuned XGBoost model to flag high-risk loan applicants with 93% accuracy and 79.6% recall — catching 4 out of 5 real defaulters, driven primarily by credit grade and home ownership status.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114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Impact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5262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consistent, data-driven loan decisions — reducing manual review time while catching more high-risk applicants than a human-only process.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37160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1B1E2C"/>
          </a:solidFill>
          <a:ln w="12700">
            <a:solidFill>
              <a:srgbClr val="3439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Work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92240" y="2148840"/>
            <a:ext cx="292608" cy="292608"/>
          </a:xfrm>
          <a:prstGeom prst="ellipse">
            <a:avLst/>
          </a:prstGeom>
          <a:solidFill>
            <a:srgbClr val="232739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0" y="2130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949440" y="21031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 as a live API for real-time scoring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92240" y="2807208"/>
            <a:ext cx="292608" cy="292608"/>
          </a:xfrm>
          <a:prstGeom prst="ellipse">
            <a:avLst/>
          </a:prstGeom>
          <a:solidFill>
            <a:srgbClr val="232739"/>
          </a:solidFill>
          <a:ln/>
        </p:spPr>
      </p:sp>
      <p:sp>
        <p:nvSpPr>
          <p:cNvPr id="18" name="Text 15"/>
          <p:cNvSpPr/>
          <p:nvPr/>
        </p:nvSpPr>
        <p:spPr>
          <a:xfrm>
            <a:off x="6492240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949440" y="27614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SMOTE and larger, more diverse datasets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492240" y="3465576"/>
            <a:ext cx="292608" cy="292608"/>
          </a:xfrm>
          <a:prstGeom prst="ellipse">
            <a:avLst/>
          </a:prstGeom>
          <a:solidFill>
            <a:srgbClr val="232739"/>
          </a:solidFill>
          <a:ln/>
        </p:spPr>
      </p:sp>
      <p:sp>
        <p:nvSpPr>
          <p:cNvPr id="21" name="Text 18"/>
          <p:cNvSpPr/>
          <p:nvPr/>
        </p:nvSpPr>
        <p:spPr>
          <a:xfrm>
            <a:off x="6492240" y="3447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949440" y="341985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engineered features (e.g. debt-to-income ratios)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92240" y="4123944"/>
            <a:ext cx="292608" cy="292608"/>
          </a:xfrm>
          <a:prstGeom prst="ellipse">
            <a:avLst/>
          </a:prstGeom>
          <a:solidFill>
            <a:srgbClr val="232739"/>
          </a:solidFill>
          <a:ln/>
        </p:spPr>
      </p:sp>
      <p:sp>
        <p:nvSpPr>
          <p:cNvPr id="24" name="Text 21"/>
          <p:cNvSpPr/>
          <p:nvPr/>
        </p:nvSpPr>
        <p:spPr>
          <a:xfrm>
            <a:off x="6492240" y="41056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949440" y="407822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monitoring dashboard for real-world drift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154887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hero_banner_16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428232"/>
            <a:ext cx="12188952" cy="429768"/>
          </a:xfrm>
          <a:prstGeom prst="rect">
            <a:avLst/>
          </a:prstGeom>
          <a:solidFill>
            <a:srgbClr val="12141C">
              <a:alpha val="9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2880" y="6428232"/>
            <a:ext cx="1182319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&amp; Discussion      |      SafeLend: Predicting Loan Default with ML      |      NTI Graduation Project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1291</Words>
  <Application>Microsoft Office PowerPoint</Application>
  <PresentationFormat>Widescreen</PresentationFormat>
  <Paragraphs>303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lamia abdelhady</cp:lastModifiedBy>
  <cp:revision>4</cp:revision>
  <dcterms:created xsi:type="dcterms:W3CDTF">2026-08-13T22:08:50Z</dcterms:created>
  <dcterms:modified xsi:type="dcterms:W3CDTF">2026-08-14T17:17:08Z</dcterms:modified>
</cp:coreProperties>
</file>